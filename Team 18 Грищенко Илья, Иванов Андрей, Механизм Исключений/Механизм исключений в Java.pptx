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45cf5a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45cf5a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45cf5a9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45cf5a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45cf5a9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45cf5a9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45cf5a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45cf5a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45cf5a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45cf5a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45cf5a9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45cf5a9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45cf5a9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45cf5a9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45cf5a9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45cf5a9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45cf5a9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45cf5a9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45cf5a9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45cf5a9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45cf5a9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45cf5a9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5993fb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5993fb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5993fb0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15993fb0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5993fb0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5993fb0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5993fb0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5993fb0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5993fb0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5993fb0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5993fb0f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15993fb0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5993fb0f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15993fb0f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5993fb0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15993fb0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5993fb0f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15993fb0f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15993fb0f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15993fb0f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15993fb0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15993fb0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145cf5a9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145cf5a9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metanit.com/java/tutorial/4.2.php" TargetMode="External"/><Relationship Id="rId4" Type="http://schemas.openxmlformats.org/officeDocument/2006/relationships/hyperlink" Target="https://javarush.com/groups/posts/194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700"/>
              <a:t>Механизм исключений в Java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Грищенко Илья, Иванов Андрей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5030102/30101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5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1: виртуальная машина Java (JVM)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Программист пишет код на Java – файлы </a:t>
            </a:r>
            <a:r>
              <a:rPr b="1" lang="ru">
                <a:solidFill>
                  <a:schemeClr val="dk1"/>
                </a:solidFill>
              </a:rPr>
              <a:t>.java 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Компилятор Java переводит человеко-читаемый код в </a:t>
            </a:r>
            <a:r>
              <a:rPr lang="ru">
                <a:solidFill>
                  <a:schemeClr val="dk1"/>
                </a:solidFill>
              </a:rPr>
              <a:t>байт-код. Это</a:t>
            </a:r>
            <a:r>
              <a:rPr b="1"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специальный промежуточный формат – файлы </a:t>
            </a:r>
            <a:r>
              <a:rPr b="1" lang="ru">
                <a:solidFill>
                  <a:schemeClr val="dk1"/>
                </a:solidFill>
              </a:rPr>
              <a:t>.class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НО: байт-код это не машинные команды. Процессор не может выполнить байт-код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Поэтому нужен инструмент, который сможет </a:t>
            </a:r>
            <a:r>
              <a:rPr lang="ru">
                <a:solidFill>
                  <a:schemeClr val="dk1"/>
                </a:solidFill>
              </a:rPr>
              <a:t>интерпретировать</a:t>
            </a:r>
            <a:r>
              <a:rPr lang="ru">
                <a:solidFill>
                  <a:schemeClr val="dk1"/>
                </a:solidFill>
              </a:rPr>
              <a:t> байт-код в машинные команды – это и есть JVM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Байт-код можно будет </a:t>
            </a:r>
            <a:r>
              <a:rPr lang="ru">
                <a:solidFill>
                  <a:schemeClr val="dk1"/>
                </a:solidFill>
              </a:rPr>
              <a:t>использовать</a:t>
            </a:r>
            <a:r>
              <a:rPr lang="ru">
                <a:solidFill>
                  <a:schemeClr val="dk1"/>
                </a:solidFill>
              </a:rPr>
              <a:t> везде, где есть JVM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63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1: виртуальная машина Java (JVM)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769450" y="984650"/>
            <a:ext cx="40629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Есть разные версии JVM - для Windows, для Linux и для Mac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JVM производит сразу несколько операций с байт-кодом: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загружает байт-код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интерпретирует байт-код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управляет памятью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следит за ошибками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984652"/>
            <a:ext cx="4062824" cy="37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9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2: определение исключения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4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ru" sz="1900">
                <a:solidFill>
                  <a:schemeClr val="dk1"/>
                </a:solidFill>
              </a:rPr>
              <a:t>В</a:t>
            </a:r>
            <a:r>
              <a:rPr lang="ru" sz="1900">
                <a:solidFill>
                  <a:schemeClr val="dk1"/>
                </a:solidFill>
              </a:rPr>
              <a:t>о время выполнения программы могут возникать исключительные ситуации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ru" sz="1900">
                <a:solidFill>
                  <a:schemeClr val="dk1"/>
                </a:solidFill>
              </a:rPr>
              <a:t>При возникновении исключения в приложении создается объект, который описывает это исключение.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ru" sz="1900">
                <a:solidFill>
                  <a:schemeClr val="dk1"/>
                </a:solidFill>
              </a:rPr>
              <a:t>То есть каждой исключительной ситуации поставлен в соответствие </a:t>
            </a:r>
            <a:r>
              <a:rPr lang="ru" sz="1900" u="sng">
                <a:solidFill>
                  <a:schemeClr val="dk1"/>
                </a:solidFill>
              </a:rPr>
              <a:t>некоторый класс</a:t>
            </a:r>
            <a:r>
              <a:rPr lang="ru" sz="1900">
                <a:solidFill>
                  <a:schemeClr val="dk1"/>
                </a:solidFill>
              </a:rPr>
              <a:t>, экземпляр которого инициируется при ее появлении.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2: определение исключения, состав исключения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Что находится внутри класса исключения: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Тип исключения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Сообщение об ошибке</a:t>
            </a:r>
            <a:r>
              <a:rPr lang="ru">
                <a:solidFill>
                  <a:schemeClr val="dk1"/>
                </a:solidFill>
              </a:rPr>
              <a:t> – текстовое описание проблемы, которое читает человек.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Стек вызовов</a:t>
            </a:r>
            <a:r>
              <a:rPr lang="ru">
                <a:solidFill>
                  <a:schemeClr val="dk1"/>
                </a:solidFill>
              </a:rPr>
              <a:t> – самая главная часть. Она позволяет разобраться где произошла проблема.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Причина</a:t>
            </a:r>
            <a:r>
              <a:rPr lang="ru">
                <a:solidFill>
                  <a:schemeClr val="dk1"/>
                </a:solidFill>
              </a:rPr>
              <a:t> – часто одна ошибка является следствием другой. Объект-исключение может хранить ссылку на другое исключение, которое стало его причиной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863550"/>
            <a:ext cx="4349700" cy="4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Все исключения являются наследниками суперкласса Throwable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Далее, есть два подкласса: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Error и Exeption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Подкласс Error – это фатальные для приложения ошибки, после них обычно нельзя восстановиться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Подкласс Exception – это обрабатываемые исключения. Их можно и нужно обработать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125" y="863538"/>
            <a:ext cx="3950850" cy="30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4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4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исключений,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39075"/>
            <a:ext cx="8676000" cy="3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820">
                <a:solidFill>
                  <a:schemeClr val="dk1"/>
                </a:solidFill>
              </a:rPr>
              <a:t>Исключительные ситуации типа Error – это ошибки, связанные с работой JVM и системы. </a:t>
            </a:r>
            <a:endParaRPr sz="1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820">
                <a:solidFill>
                  <a:schemeClr val="dk1"/>
                </a:solidFill>
              </a:rPr>
              <a:t>Такие исключения, связанные с серьезными ошибками, к примеру, с переполнением стека, не подлежат исправлению.</a:t>
            </a:r>
            <a:endParaRPr sz="1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820">
                <a:solidFill>
                  <a:schemeClr val="dk1"/>
                </a:solidFill>
              </a:rPr>
              <a:t>Они не могут обрабатываться приложением.</a:t>
            </a:r>
            <a:endParaRPr sz="1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820">
                <a:solidFill>
                  <a:schemeClr val="dk1"/>
                </a:solidFill>
              </a:rPr>
              <a:t>Основные примеры:</a:t>
            </a:r>
            <a:endParaRPr sz="1820">
              <a:solidFill>
                <a:schemeClr val="dk1"/>
              </a:solidFill>
            </a:endParaRPr>
          </a:p>
          <a:p>
            <a:pPr indent="-3441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20"/>
              <a:buChar char="●"/>
            </a:pPr>
            <a:r>
              <a:rPr lang="ru" sz="1820">
                <a:solidFill>
                  <a:schemeClr val="dk1"/>
                </a:solidFill>
              </a:rPr>
              <a:t>Нехватка памяти</a:t>
            </a:r>
            <a:endParaRPr sz="1820">
              <a:solidFill>
                <a:schemeClr val="dk1"/>
              </a:solidFill>
            </a:endParaRPr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Char char="●"/>
            </a:pPr>
            <a:r>
              <a:rPr lang="ru" sz="1820">
                <a:solidFill>
                  <a:schemeClr val="dk1"/>
                </a:solidFill>
              </a:rPr>
              <a:t>Переполнение стека вызовов</a:t>
            </a:r>
            <a:endParaRPr sz="1820">
              <a:solidFill>
                <a:schemeClr val="dk1"/>
              </a:solidFill>
            </a:endParaRPr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Char char="●"/>
            </a:pPr>
            <a:r>
              <a:rPr lang="ru" sz="1820">
                <a:solidFill>
                  <a:schemeClr val="dk1"/>
                </a:solidFill>
              </a:rPr>
              <a:t>Внутренние ошибки JVM</a:t>
            </a:r>
            <a:endParaRPr sz="18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8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5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исключений, 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337650"/>
            <a:ext cx="8609876" cy="28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Exception — это подкласс Throwable, представляющий ошибки, которые можно и нужно обрабатывать в прикладном коде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отличие от Error, исключения Exception указывают на проблемы, от которых программа может восстановиться или корректно завершить свою работу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Они делятся на проверяемые (checked </a:t>
            </a:r>
            <a:r>
              <a:rPr lang="ru">
                <a:solidFill>
                  <a:schemeClr val="dk1"/>
                </a:solidFill>
              </a:rPr>
              <a:t>exceptions </a:t>
            </a:r>
            <a:r>
              <a:rPr lang="ru">
                <a:solidFill>
                  <a:schemeClr val="dk1"/>
                </a:solidFill>
              </a:rPr>
              <a:t>), требующие обязательной обработки, и непроверяемые (unchecked e</a:t>
            </a:r>
            <a:r>
              <a:rPr lang="ru">
                <a:solidFill>
                  <a:schemeClr val="dk1"/>
                </a:solidFill>
              </a:rPr>
              <a:t>xceptions </a:t>
            </a:r>
            <a:r>
              <a:rPr lang="ru">
                <a:solidFill>
                  <a:schemeClr val="dk1"/>
                </a:solidFill>
              </a:rPr>
              <a:t>или RuntimeExceptions), возникающие обычно из-за ошибок программиста.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24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исключений, </a:t>
            </a:r>
            <a:r>
              <a:rPr lang="ru"/>
              <a:t>Exception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Этап 3: Иерархия исключений, разница Checked и Unchecked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Checked Exceptions – это исключения, которые проверяются компилятором, и программист обязан либо обработать их в блоке try-catch, либо включить в throws.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Unchecked Exceptions (RuntimeException и его наследники) не проверяются компилятором, и их обработка остается на усмотрение программиста.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Обычно Checked Exceptions представляют внешние, ожидаемые ошибки (вроде "файл не найден"), а Unchecked Exceptions обычно указывают на ошибки в логике программы (вроде NullPointerException).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4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исключений, Checked Exceptions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638" y="956600"/>
            <a:ext cx="4286714" cy="40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4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 3: Иерархия исключений, Unchecked Exceptions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675" y="817600"/>
            <a:ext cx="5632641" cy="41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/>
              <a:t>Способы обработки исключений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На практике используется один из двух способов обработки исключений: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• перехват и обработка исключения в блоке </a:t>
            </a:r>
            <a:r>
              <a:rPr b="1" lang="ru" sz="1900">
                <a:solidFill>
                  <a:schemeClr val="dk1"/>
                </a:solidFill>
              </a:rPr>
              <a:t>try-catch</a:t>
            </a:r>
            <a:r>
              <a:rPr lang="ru" sz="1900">
                <a:solidFill>
                  <a:schemeClr val="dk1"/>
                </a:solidFill>
              </a:rPr>
              <a:t> метода;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 • объявление исключения в секции </a:t>
            </a:r>
            <a:r>
              <a:rPr b="1" lang="ru" sz="1900">
                <a:solidFill>
                  <a:schemeClr val="dk1"/>
                </a:solidFill>
              </a:rPr>
              <a:t>throws </a:t>
            </a:r>
            <a:r>
              <a:rPr lang="ru" sz="1900">
                <a:solidFill>
                  <a:schemeClr val="dk1"/>
                </a:solidFill>
              </a:rPr>
              <a:t>метода и передача вызывающему методу.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3000"/>
              <a:t>try-catch</a:t>
            </a:r>
            <a:r>
              <a:rPr lang="ru" sz="3000"/>
              <a:t> метод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432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Конструкция </a:t>
            </a:r>
            <a:r>
              <a:rPr b="1" lang="ru">
                <a:solidFill>
                  <a:schemeClr val="dk1"/>
                </a:solidFill>
              </a:rPr>
              <a:t>try-catch</a:t>
            </a:r>
            <a:r>
              <a:rPr lang="ru">
                <a:solidFill>
                  <a:schemeClr val="dk1"/>
                </a:solidFill>
              </a:rPr>
              <a:t> по виду напоминает </a:t>
            </a:r>
            <a:r>
              <a:rPr b="1" lang="ru">
                <a:solidFill>
                  <a:schemeClr val="dk1"/>
                </a:solidFill>
              </a:rPr>
              <a:t>if-else</a:t>
            </a:r>
            <a:r>
              <a:rPr lang="ru">
                <a:solidFill>
                  <a:schemeClr val="dk1"/>
                </a:solidFill>
              </a:rPr>
              <a:t>, в блоке </a:t>
            </a:r>
            <a:r>
              <a:rPr b="1" lang="ru">
                <a:solidFill>
                  <a:schemeClr val="dk1"/>
                </a:solidFill>
              </a:rPr>
              <a:t>try </a:t>
            </a:r>
            <a:r>
              <a:rPr lang="ru">
                <a:solidFill>
                  <a:schemeClr val="dk1"/>
                </a:solidFill>
              </a:rPr>
              <a:t>пишется код где может возникнуть исключение (например, происходит открытие файла). В блок </a:t>
            </a:r>
            <a:r>
              <a:rPr b="1" lang="ru">
                <a:solidFill>
                  <a:schemeClr val="dk1"/>
                </a:solidFill>
              </a:rPr>
              <a:t>catch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chemeClr val="dk1"/>
                </a:solidFill>
              </a:rPr>
              <a:t>пишется</a:t>
            </a:r>
            <a:r>
              <a:rPr lang="ru">
                <a:solidFill>
                  <a:schemeClr val="dk1"/>
                </a:solidFill>
              </a:rPr>
              <a:t> обработка исключений.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000" y="1170125"/>
            <a:ext cx="4203600" cy="188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b="1" lang="ru" sz="2710"/>
              <a:t>try-catch</a:t>
            </a:r>
            <a:r>
              <a:rPr lang="ru" sz="2710"/>
              <a:t> метод</a:t>
            </a:r>
            <a:endParaRPr sz="3220"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225" y="3614900"/>
            <a:ext cx="63150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525" y="1017725"/>
            <a:ext cx="3704770" cy="25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283300" y="1017825"/>
            <a:ext cx="4844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Если в блоке </a:t>
            </a:r>
            <a:r>
              <a:rPr b="1" lang="ru" sz="1800">
                <a:solidFill>
                  <a:schemeClr val="dk1"/>
                </a:solidFill>
              </a:rPr>
              <a:t>try </a:t>
            </a:r>
            <a:r>
              <a:rPr lang="ru" sz="1800">
                <a:solidFill>
                  <a:schemeClr val="dk1"/>
                </a:solidFill>
              </a:rPr>
              <a:t>может быть сгенерировано в разных участках кода несколько типов исключений, то необходимо наличие нескольких блоков </a:t>
            </a:r>
            <a:r>
              <a:rPr b="1" lang="ru" sz="1800">
                <a:solidFill>
                  <a:schemeClr val="dk1"/>
                </a:solidFill>
              </a:rPr>
              <a:t>catch</a:t>
            </a:r>
            <a:r>
              <a:rPr lang="ru" sz="1800">
                <a:solidFill>
                  <a:schemeClr val="dk1"/>
                </a:solidFill>
              </a:rPr>
              <a:t>, если только блок </a:t>
            </a:r>
            <a:r>
              <a:rPr b="1" lang="ru" sz="1800">
                <a:solidFill>
                  <a:schemeClr val="dk1"/>
                </a:solidFill>
              </a:rPr>
              <a:t>catch </a:t>
            </a:r>
            <a:r>
              <a:rPr lang="ru" sz="1800">
                <a:solidFill>
                  <a:schemeClr val="dk1"/>
                </a:solidFill>
              </a:rPr>
              <a:t>не обрабатывает все типы исключений. С версии </a:t>
            </a:r>
            <a:r>
              <a:rPr b="1" lang="ru" sz="1800">
                <a:solidFill>
                  <a:schemeClr val="dk1"/>
                </a:solidFill>
              </a:rPr>
              <a:t>Java 7</a:t>
            </a:r>
            <a:r>
              <a:rPr lang="ru" sz="1800">
                <a:solidFill>
                  <a:schemeClr val="dk1"/>
                </a:solidFill>
              </a:rPr>
              <a:t>, блоки </a:t>
            </a:r>
            <a:r>
              <a:rPr b="1" lang="ru" sz="1800">
                <a:solidFill>
                  <a:schemeClr val="dk1"/>
                </a:solidFill>
              </a:rPr>
              <a:t>catch</a:t>
            </a:r>
            <a:r>
              <a:rPr lang="ru" sz="1800">
                <a:solidFill>
                  <a:schemeClr val="dk1"/>
                </a:solidFill>
              </a:rPr>
              <a:t>, можно объединять в один с помощью логического символа “или” (</a:t>
            </a:r>
            <a:r>
              <a:rPr b="1" lang="ru" sz="1800">
                <a:solidFill>
                  <a:schemeClr val="dk1"/>
                </a:solidFill>
              </a:rPr>
              <a:t>|</a:t>
            </a:r>
            <a:r>
              <a:rPr lang="ru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710"/>
              <a:t>try-catch</a:t>
            </a:r>
            <a:r>
              <a:rPr lang="ru" sz="2710"/>
              <a:t> метод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470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Операторы </a:t>
            </a:r>
            <a:r>
              <a:rPr b="1" lang="ru">
                <a:solidFill>
                  <a:schemeClr val="dk1"/>
                </a:solidFill>
              </a:rPr>
              <a:t>try </a:t>
            </a:r>
            <a:r>
              <a:rPr lang="ru">
                <a:solidFill>
                  <a:schemeClr val="dk1"/>
                </a:solidFill>
              </a:rPr>
              <a:t>можно вкладывать друг в друга. Если у оператора </a:t>
            </a:r>
            <a:r>
              <a:rPr b="1" lang="ru">
                <a:solidFill>
                  <a:schemeClr val="dk1"/>
                </a:solidFill>
              </a:rPr>
              <a:t>try </a:t>
            </a:r>
            <a:r>
              <a:rPr lang="ru">
                <a:solidFill>
                  <a:schemeClr val="dk1"/>
                </a:solidFill>
              </a:rPr>
              <a:t>низкого уровня нет раздела </a:t>
            </a:r>
            <a:r>
              <a:rPr b="1" lang="ru">
                <a:solidFill>
                  <a:schemeClr val="dk1"/>
                </a:solidFill>
              </a:rPr>
              <a:t>catch</a:t>
            </a:r>
            <a:r>
              <a:rPr lang="ru">
                <a:solidFill>
                  <a:schemeClr val="dk1"/>
                </a:solidFill>
              </a:rPr>
              <a:t>, соответствующего возникшему исключению, поиск будет развернут на одну ступень выше и будут проверены разделы </a:t>
            </a:r>
            <a:r>
              <a:rPr b="1" lang="ru">
                <a:solidFill>
                  <a:schemeClr val="dk1"/>
                </a:solidFill>
              </a:rPr>
              <a:t>catch </a:t>
            </a:r>
            <a:r>
              <a:rPr lang="ru">
                <a:solidFill>
                  <a:schemeClr val="dk1"/>
                </a:solidFill>
              </a:rPr>
              <a:t>внешнего оператора </a:t>
            </a:r>
            <a:r>
              <a:rPr b="1" lang="ru">
                <a:solidFill>
                  <a:schemeClr val="dk1"/>
                </a:solidFill>
              </a:rPr>
              <a:t>try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9000" y="1170125"/>
            <a:ext cx="3822600" cy="249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Блок </a:t>
            </a:r>
            <a:r>
              <a:rPr b="1" lang="ru"/>
              <a:t>finally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452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Возможна ситуация, при которой нужно выполнить некоторые действия по завершении программы вне зависимости от того, произошло исключение или нет. В этом случае используется блок </a:t>
            </a:r>
            <a:r>
              <a:rPr b="1" lang="ru">
                <a:solidFill>
                  <a:schemeClr val="dk1"/>
                </a:solidFill>
              </a:rPr>
              <a:t>finally</a:t>
            </a:r>
            <a:r>
              <a:rPr lang="ru">
                <a:solidFill>
                  <a:schemeClr val="dk1"/>
                </a:solidFill>
              </a:rPr>
              <a:t>, который обязательно выполняется после или инструкции </a:t>
            </a:r>
            <a:r>
              <a:rPr b="1" lang="ru">
                <a:solidFill>
                  <a:schemeClr val="dk1"/>
                </a:solidFill>
              </a:rPr>
              <a:t>try</a:t>
            </a:r>
            <a:r>
              <a:rPr lang="ru">
                <a:solidFill>
                  <a:schemeClr val="dk1"/>
                </a:solidFill>
              </a:rPr>
              <a:t>, или </a:t>
            </a:r>
            <a:r>
              <a:rPr b="1" lang="ru">
                <a:solidFill>
                  <a:schemeClr val="dk1"/>
                </a:solidFill>
              </a:rPr>
              <a:t>catch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Каждому разделу </a:t>
            </a:r>
            <a:r>
              <a:rPr b="1" lang="ru">
                <a:solidFill>
                  <a:schemeClr val="dk1"/>
                </a:solidFill>
              </a:rPr>
              <a:t>try </a:t>
            </a:r>
            <a:r>
              <a:rPr lang="ru">
                <a:solidFill>
                  <a:schemeClr val="dk1"/>
                </a:solidFill>
              </a:rPr>
              <a:t>должен соответствовать по крайней мере один раздел </a:t>
            </a:r>
            <a:r>
              <a:rPr b="1" lang="ru">
                <a:solidFill>
                  <a:schemeClr val="dk1"/>
                </a:solidFill>
              </a:rPr>
              <a:t>catch </a:t>
            </a:r>
            <a:r>
              <a:rPr lang="ru">
                <a:solidFill>
                  <a:schemeClr val="dk1"/>
                </a:solidFill>
              </a:rPr>
              <a:t>или блок </a:t>
            </a:r>
            <a:r>
              <a:rPr b="1" lang="ru">
                <a:solidFill>
                  <a:schemeClr val="dk1"/>
                </a:solidFill>
              </a:rPr>
              <a:t>finally</a:t>
            </a:r>
            <a:r>
              <a:rPr lang="ru">
                <a:solidFill>
                  <a:schemeClr val="dk1"/>
                </a:solidFill>
              </a:rPr>
              <a:t>. Код блока выполняется перед выходом из метода даже в том случае, если перед ним были выполнены такие инструкции, как </a:t>
            </a:r>
            <a:r>
              <a:rPr b="1" lang="ru">
                <a:solidFill>
                  <a:schemeClr val="dk1"/>
                </a:solidFill>
              </a:rPr>
              <a:t>throws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b="1" lang="ru">
                <a:solidFill>
                  <a:schemeClr val="dk1"/>
                </a:solidFill>
              </a:rPr>
              <a:t>return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b="1" lang="ru">
                <a:solidFill>
                  <a:schemeClr val="dk1"/>
                </a:solidFill>
              </a:rPr>
              <a:t>break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b="1" lang="ru">
                <a:solidFill>
                  <a:schemeClr val="dk1"/>
                </a:solidFill>
              </a:rPr>
              <a:t>continue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100" y="1330088"/>
            <a:ext cx="4181700" cy="2365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00" y="1017725"/>
            <a:ext cx="632779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075" y="1017725"/>
            <a:ext cx="466586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</a:t>
            </a:r>
            <a:r>
              <a:rPr b="1" lang="ru"/>
              <a:t>throw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Метод может генерировать исключения, которые сам не обрабатывает, а передает для обработки другим методам, вызывающим данный метод. В этом случае метод должен объявить о таком поведении с помощью ключевого слова </a:t>
            </a:r>
            <a:r>
              <a:rPr b="1" lang="ru">
                <a:solidFill>
                  <a:schemeClr val="dk1"/>
                </a:solidFill>
              </a:rPr>
              <a:t>throws</a:t>
            </a:r>
            <a:r>
              <a:rPr lang="ru">
                <a:solidFill>
                  <a:schemeClr val="dk1"/>
                </a:solidFill>
              </a:rPr>
              <a:t>, чтобы вызывающий метод мог защитить себя от этих исключений. В вызывающем методе должна быть предусмотрена или обработка этих исключений, или последующая передача соответствующему методу.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pic>
        <p:nvPicPr>
          <p:cNvPr id="182" name="Google Shape;1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725" y="1017725"/>
            <a:ext cx="598255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25" y="1017725"/>
            <a:ext cx="428634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22521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Жизненный</a:t>
            </a:r>
            <a:r>
              <a:rPr lang="ru"/>
              <a:t> цикл исключений в java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797925"/>
            <a:ext cx="8520600" cy="4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Созда</a:t>
            </a:r>
            <a:r>
              <a:rPr lang="ru">
                <a:solidFill>
                  <a:schemeClr val="dk1"/>
                </a:solidFill>
              </a:rPr>
              <a:t>ние исключения (Exception Creation)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Бросок</a:t>
            </a:r>
            <a:r>
              <a:rPr lang="ru">
                <a:solidFill>
                  <a:schemeClr val="dk1"/>
                </a:solidFill>
              </a:rPr>
              <a:t>  </a:t>
            </a:r>
            <a:r>
              <a:rPr lang="ru">
                <a:solidFill>
                  <a:schemeClr val="dk1"/>
                </a:solidFill>
              </a:rPr>
              <a:t>исключения  (Throwing)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Нормальный поток выполнения прерывается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JVM начинает поиск обработчика исключения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Текущий метод завершается досрочно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Управление передается механизму обработки исключений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Перехват </a:t>
            </a:r>
            <a:r>
              <a:rPr lang="ru">
                <a:solidFill>
                  <a:schemeClr val="dk1"/>
                </a:solidFill>
              </a:rPr>
              <a:t>исключения  (Catching)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Проброс исключения (Propagating)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Когда исключение брошено в методе, его выполнение немедленно прерывается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JVM ищет обработчик исключения в текущем методе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Если обработчик не найден, исключение "пробрасывается" в вызывающий метод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ru">
                <a:solidFill>
                  <a:schemeClr val="dk1"/>
                </a:solidFill>
              </a:rPr>
              <a:t>Процесс повторяется рекурсивно до тех пор, пока не будет найден подходящий обработчик или не достигнуто начало стека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Обработка или завершение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20"/>
              <a:t>Список источников:</a:t>
            </a:r>
            <a:endParaRPr sz="2920"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Java from EPAM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metanit.com/java/tutorial/4.2.php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https://javarush.com/groups/posts/1944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https://progatochkapy.blogspot.com/p/jvm-java.html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