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70" r:id="rId8"/>
    <p:sldId id="277" r:id="rId9"/>
    <p:sldId id="278" r:id="rId10"/>
    <p:sldId id="271" r:id="rId11"/>
    <p:sldId id="272" r:id="rId12"/>
    <p:sldId id="281" r:id="rId13"/>
    <p:sldId id="262" r:id="rId14"/>
    <p:sldId id="273" r:id="rId15"/>
    <p:sldId id="274" r:id="rId16"/>
    <p:sldId id="280" r:id="rId17"/>
    <p:sldId id="279" r:id="rId18"/>
    <p:sldId id="275" r:id="rId19"/>
    <p:sldId id="276" r:id="rId20"/>
    <p:sldId id="265" r:id="rId21"/>
    <p:sldId id="266" r:id="rId22"/>
    <p:sldId id="267" r:id="rId2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Светлый стиль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C7853C-536D-4A76-A0AE-DD22124D55A5}" styleName="Стиль из темы 1 - акцент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>
        <p:scale>
          <a:sx n="100" d="100"/>
          <a:sy n="100" d="100"/>
        </p:scale>
        <p:origin x="14" y="-14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3518C8BC-8400-4416-94E4-5FB1B09A2E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xmlns="" id="{91ED499C-515A-4708-B599-970C6EE639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xmlns="" id="{01A40B15-C9B2-4EC2-90E3-92C824C211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0309A4-6AB7-4D5C-9F19-2E053FF7AB93}" type="datetimeFigureOut">
              <a:rPr lang="ru-RU" smtClean="0"/>
              <a:t>22.11.2025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xmlns="" id="{F0F6326E-6642-42D6-9D4E-223F266D21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xmlns="" id="{0AF76B85-783A-4404-97B2-5DDE4E7A75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BBC18-574C-4D60-A6BE-999A5384ED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516267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6A93FB4F-6FA5-445A-AE7D-2C3A2E92B4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6FCD6DD9-F9D0-4732-8A75-92F54550B1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xmlns="" id="{18D08C95-22C7-4E44-A8A9-44FB6E1A78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0309A4-6AB7-4D5C-9F19-2E053FF7AB93}" type="datetimeFigureOut">
              <a:rPr lang="ru-RU" smtClean="0"/>
              <a:t>22.11.2025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xmlns="" id="{893F5150-B4F5-4B9A-BBD1-DE1ED9186E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xmlns="" id="{A20829A5-CCC4-43F5-AE38-B57E7F379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BBC18-574C-4D60-A6BE-999A5384ED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009242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69A4FF8B-E843-4A59-9D93-2D7473F798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xmlns="" id="{815FFE22-DBF8-4701-9DB8-F3C7CEE91D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xmlns="" id="{D3989181-3DCE-46A3-A37C-9EBB240048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0309A4-6AB7-4D5C-9F19-2E053FF7AB93}" type="datetimeFigureOut">
              <a:rPr lang="ru-RU" smtClean="0"/>
              <a:t>22.11.2025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xmlns="" id="{AFF9DC90-9B99-40F2-B931-CD504F9C90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xmlns="" id="{C0C9FD1D-4C1A-4088-897E-F41E4B1652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BBC18-574C-4D60-A6BE-999A5384ED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14467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18216FAC-DC36-4649-8172-38511308A3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6F448368-5FF2-4436-B691-550A84AF7D0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xmlns="" id="{6FB8E51E-B6EC-4B0B-9EF6-030CBD05E4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xmlns="" id="{F9F3C3A4-C10D-4E7D-B4AA-E31B8B4925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0309A4-6AB7-4D5C-9F19-2E053FF7AB93}" type="datetimeFigureOut">
              <a:rPr lang="ru-RU" smtClean="0"/>
              <a:t>22.11.2025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xmlns="" id="{6BED57D8-A630-4AEC-9083-E2B0C971A4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xmlns="" id="{E21F17A8-FF6B-4A21-B42E-612AAD52AE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BBC18-574C-4D60-A6BE-999A5384ED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679071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F364531C-F51C-4F31-B1DE-CB93C5B5BB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xmlns="" id="{5758DF3A-C301-4E9C-AA93-5E4C0B4DE1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xmlns="" id="{6D2940EB-1C94-4567-970D-95207B3A9E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xmlns="" id="{03028963-8BF1-4829-B6F0-CAFF55A5A5B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xmlns="" id="{0ED4B3F4-5F11-4B59-9368-A683DA7DB79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xmlns="" id="{F6817AE2-EA89-4FD5-8457-C521162B98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0309A4-6AB7-4D5C-9F19-2E053FF7AB93}" type="datetimeFigureOut">
              <a:rPr lang="ru-RU" smtClean="0"/>
              <a:t>22.11.2025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xmlns="" id="{2DE4BA9E-2DEE-4981-84A6-46792D5DCA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xmlns="" id="{E3009657-9A6D-4CDC-89B0-56F4410287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BBC18-574C-4D60-A6BE-999A5384ED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674304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E935E2A3-72C5-4A81-BC6B-B09C059590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xmlns="" id="{DE58D712-29A2-4652-99D1-CD48321677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0309A4-6AB7-4D5C-9F19-2E053FF7AB93}" type="datetimeFigureOut">
              <a:rPr lang="ru-RU" smtClean="0"/>
              <a:t>22.11.2025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xmlns="" id="{0AC9F40C-9030-4DC8-AC9C-1144C5828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xmlns="" id="{0618D9FF-D8B6-4C35-9909-3871F07B0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BBC18-574C-4D60-A6BE-999A5384ED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701206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xmlns="" id="{9A420FA1-5287-49D0-80AB-5473A55887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0309A4-6AB7-4D5C-9F19-2E053FF7AB93}" type="datetimeFigureOut">
              <a:rPr lang="ru-RU" smtClean="0"/>
              <a:t>22.11.2025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xmlns="" id="{CAEE660E-54AE-4C5F-A9AC-05E9C3D60D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xmlns="" id="{06FB4915-FFBA-4A56-AB7B-C7DA490BDC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BBC18-574C-4D60-A6BE-999A5384ED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334859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446FAF5B-BA73-4D9D-BA77-F9B6E84B61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6FD5DDEF-7067-474A-9A85-79C5E0856E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xmlns="" id="{646E641D-D948-4AAF-9EC9-6232BADF6B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xmlns="" id="{CB12BA88-CF4F-45DD-A12C-AD8A69F1C9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0309A4-6AB7-4D5C-9F19-2E053FF7AB93}" type="datetimeFigureOut">
              <a:rPr lang="ru-RU" smtClean="0"/>
              <a:t>22.11.2025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xmlns="" id="{0A89F2C1-82F5-4812-A20E-9A1FCCDC30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xmlns="" id="{6EEF832D-E690-473A-920A-CE299BDE3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BBC18-574C-4D60-A6BE-999A5384ED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038491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5783A972-E1A9-42C2-8E72-F267EF0569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xmlns="" id="{639B5EF6-DF0C-49CC-8365-173959A8EEB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xmlns="" id="{661D1549-19B5-4FBB-8B1C-D1C4D64C46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xmlns="" id="{7C871F4F-FB5B-4CA2-976C-22BEFF8981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0309A4-6AB7-4D5C-9F19-2E053FF7AB93}" type="datetimeFigureOut">
              <a:rPr lang="ru-RU" smtClean="0"/>
              <a:t>22.11.2025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xmlns="" id="{8DF87828-9C47-4668-9CB6-ACF78039AA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xmlns="" id="{A88379E7-5873-4D7E-BAD6-637A1A6F67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BBC18-574C-4D60-A6BE-999A5384ED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848396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5E17ECC3-F088-42E1-8A57-15C39A39FD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xmlns="" id="{62CCC298-A2F5-4B8C-9DAF-F9DF2E3C09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xmlns="" id="{68703DC0-3100-413A-BF00-BF3ADAE0F7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0309A4-6AB7-4D5C-9F19-2E053FF7AB93}" type="datetimeFigureOut">
              <a:rPr lang="ru-RU" smtClean="0"/>
              <a:t>22.11.2025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xmlns="" id="{313C1933-4E9D-496F-8B80-4E9E4235EF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xmlns="" id="{B1630003-AF4E-44B0-9C44-ADD5276CB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BBC18-574C-4D60-A6BE-999A5384ED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153388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xmlns="" id="{C7B073DD-F60D-4D95-AC3E-80E3BA5BC8C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xmlns="" id="{ECDC3A6C-3818-42D4-B79F-9C23006882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xmlns="" id="{0C4F72BB-7546-4780-9088-22661163CF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0309A4-6AB7-4D5C-9F19-2E053FF7AB93}" type="datetimeFigureOut">
              <a:rPr lang="ru-RU" smtClean="0"/>
              <a:t>22.11.2025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xmlns="" id="{2D662595-E95C-429B-914A-770E66AD6D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xmlns="" id="{4607093E-BA8A-40BE-B46F-36FA8A065D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BBC18-574C-4D60-A6BE-999A5384ED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952270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6344AACD-E94C-4103-819B-7DF5102A7E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xmlns="" id="{8F4A2F3B-C222-4922-9EB3-DEF1FCB234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xmlns="" id="{4C5F2E12-1B19-410D-98D5-D95A328C369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0309A4-6AB7-4D5C-9F19-2E053FF7AB93}" type="datetimeFigureOut">
              <a:rPr lang="ru-RU" smtClean="0"/>
              <a:t>22.11.2025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xmlns="" id="{082FF8B5-2FFC-4A7A-A1A3-9EEFD10BA4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xmlns="" id="{60DC08D2-6AD2-44EB-A34D-F1AE98AC79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0BBC18-574C-4D60-A6BE-999A5384ED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666436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java-design-patterns.com/" TargetMode="External"/><Relationship Id="rId2" Type="http://schemas.openxmlformats.org/officeDocument/2006/relationships/hyperlink" Target="https://refactoring.guru/ru/design-patterns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5FB83EB7-F706-46D3-A365-6B77E3E94A4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Java. </a:t>
            </a:r>
            <a:r>
              <a:rPr lang="ru-RU" dirty="0"/>
              <a:t>Прокси и мост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xmlns="" id="{E6E9823B-E085-4F52-8710-37347966F5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08376" y="4498789"/>
            <a:ext cx="4993341" cy="1573305"/>
          </a:xfrm>
        </p:spPr>
        <p:txBody>
          <a:bodyPr>
            <a:normAutofit lnSpcReduction="10000"/>
          </a:bodyPr>
          <a:lstStyle/>
          <a:p>
            <a:r>
              <a:rPr lang="ru-RU" dirty="0"/>
              <a:t>Презентация создана студентками группы 5030102/30202</a:t>
            </a:r>
          </a:p>
          <a:p>
            <a:r>
              <a:rPr lang="ru-RU" dirty="0"/>
              <a:t>Киселевой Ксенией и </a:t>
            </a:r>
            <a:endParaRPr lang="ru-RU" dirty="0" smtClean="0"/>
          </a:p>
          <a:p>
            <a:r>
              <a:rPr lang="ru-RU" dirty="0" err="1" smtClean="0"/>
              <a:t>Ятмановой</a:t>
            </a:r>
            <a:r>
              <a:rPr lang="ru-RU" dirty="0" smtClean="0"/>
              <a:t> </a:t>
            </a:r>
            <a:r>
              <a:rPr lang="ru-RU" dirty="0"/>
              <a:t>Анной</a:t>
            </a:r>
          </a:p>
        </p:txBody>
      </p:sp>
    </p:spTree>
    <p:extLst>
      <p:ext uri="{BB962C8B-B14F-4D97-AF65-F5344CB8AC3E}">
        <p14:creationId xmlns:p14="http://schemas.microsoft.com/office/powerpoint/2010/main" val="40645325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5ADDCB90-807D-41D7-9B09-32EF3AB916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Краткий обзор того, о чем будем говорить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19C3019B-D49F-49A9-BD84-2A1B604653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Введение в паттерны проектирования </a:t>
            </a:r>
          </a:p>
          <a:p>
            <a:r>
              <a:rPr lang="ru-RU" dirty="0"/>
              <a:t>Паттерн </a:t>
            </a:r>
            <a:r>
              <a:rPr lang="ru-RU" dirty="0" err="1"/>
              <a:t>Proxy</a:t>
            </a:r>
            <a:r>
              <a:rPr lang="ru-RU" dirty="0"/>
              <a:t>: суть, виды, пример в </a:t>
            </a:r>
            <a:r>
              <a:rPr lang="ru-RU" dirty="0" err="1"/>
              <a:t>Java</a:t>
            </a:r>
            <a:r>
              <a:rPr lang="ru-RU" dirty="0"/>
              <a:t> </a:t>
            </a:r>
            <a:endParaRPr lang="ru-RU" dirty="0" smtClean="0"/>
          </a:p>
          <a:p>
            <a:r>
              <a:rPr lang="ru-RU" dirty="0" err="1"/>
              <a:t>Proxy</a:t>
            </a:r>
            <a:r>
              <a:rPr lang="ru-RU" dirty="0"/>
              <a:t> и Декоратор: в чём разница?</a:t>
            </a:r>
          </a:p>
          <a:p>
            <a:r>
              <a:rPr lang="ru-RU" dirty="0"/>
              <a:t>Паттерн </a:t>
            </a:r>
            <a:r>
              <a:rPr lang="ru-RU" dirty="0" err="1"/>
              <a:t>Bridge</a:t>
            </a:r>
            <a:r>
              <a:rPr lang="ru-RU" dirty="0"/>
              <a:t>: суть, проблема, которую решает, пример в </a:t>
            </a:r>
            <a:r>
              <a:rPr lang="ru-RU" dirty="0" err="1"/>
              <a:t>Java</a:t>
            </a:r>
            <a:r>
              <a:rPr lang="ru-RU" dirty="0"/>
              <a:t> </a:t>
            </a:r>
          </a:p>
          <a:p>
            <a:r>
              <a:rPr lang="ru-RU" dirty="0"/>
              <a:t>Сравнение </a:t>
            </a:r>
            <a:r>
              <a:rPr lang="ru-RU" dirty="0" err="1"/>
              <a:t>Proxy</a:t>
            </a:r>
            <a:r>
              <a:rPr lang="ru-RU" dirty="0"/>
              <a:t> и </a:t>
            </a:r>
            <a:r>
              <a:rPr lang="ru-RU" dirty="0" err="1"/>
              <a:t>Bridge</a:t>
            </a:r>
            <a:r>
              <a:rPr lang="ru-RU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4791544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FB9FFD82-B737-461D-8AB6-B2DA0B16B8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Введение: Что такое паттерны?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3EFE6B08-08A9-437C-809A-DC4C8182F5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b="1" dirty="0"/>
              <a:t>Паттерн проектирования</a:t>
            </a:r>
            <a:r>
              <a:rPr lang="ru-RU" dirty="0"/>
              <a:t> — это часто встречающееся решение определённой проблемы при проектировании архитектуры программ</a:t>
            </a:r>
            <a:r>
              <a:rPr lang="ru-RU" dirty="0" smtClean="0"/>
              <a:t>.</a:t>
            </a:r>
          </a:p>
          <a:p>
            <a:pPr marL="0" indent="0">
              <a:buNone/>
            </a:pPr>
            <a:r>
              <a:rPr lang="ru-RU" dirty="0"/>
              <a:t>Паттерн представляет собой не какой-то конкретный код, а общую концепцию решения той или иной проблемы, которую нужно будет ещё подстроить под нужды вашей программы.</a:t>
            </a:r>
          </a:p>
          <a:p>
            <a:pPr marL="0" indent="0">
              <a:buNone/>
            </a:pPr>
            <a:r>
              <a:rPr lang="ru-RU" dirty="0"/>
              <a:t>Зачем они нужны? </a:t>
            </a:r>
          </a:p>
          <a:p>
            <a:r>
              <a:rPr lang="ru-RU" dirty="0"/>
              <a:t>Стандартизируют код </a:t>
            </a:r>
          </a:p>
          <a:p>
            <a:r>
              <a:rPr lang="ru-RU" dirty="0"/>
              <a:t>Ускоряют разработку</a:t>
            </a:r>
          </a:p>
          <a:p>
            <a:r>
              <a:rPr lang="ru-RU" dirty="0"/>
              <a:t>Облегчают понимание кода другими разработчиками</a:t>
            </a:r>
          </a:p>
        </p:txBody>
      </p:sp>
    </p:spTree>
    <p:extLst>
      <p:ext uri="{BB962C8B-B14F-4D97-AF65-F5344CB8AC3E}">
        <p14:creationId xmlns:p14="http://schemas.microsoft.com/office/powerpoint/2010/main" val="17735700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39A1ACD0-CA8C-49BC-94C2-8FDC1A2BF1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Паттерн </a:t>
            </a:r>
            <a:r>
              <a:rPr lang="en-US" dirty="0"/>
              <a:t>Proxy (</a:t>
            </a:r>
            <a:r>
              <a:rPr lang="ru-RU" dirty="0"/>
              <a:t>Заместитель)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9B64C79F-E6AC-4A0B-B6AB-A76FF26549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Объект-«заместитель», который контролирует доступ к другому объекту («реальному субъекту»).</a:t>
            </a:r>
          </a:p>
          <a:p>
            <a:r>
              <a:rPr lang="ru-RU" dirty="0"/>
              <a:t>Прокси реализует тот же интерфейс, что и реальный объект, и перехватывает вызовы к нему.</a:t>
            </a:r>
          </a:p>
        </p:txBody>
      </p:sp>
    </p:spTree>
    <p:extLst>
      <p:ext uri="{BB962C8B-B14F-4D97-AF65-F5344CB8AC3E}">
        <p14:creationId xmlns:p14="http://schemas.microsoft.com/office/powerpoint/2010/main" val="12749833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A2BF39FE-C7BF-4701-B93A-3F25A2345B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Зачем нужен </a:t>
            </a:r>
            <a:r>
              <a:rPr lang="en-US" dirty="0"/>
              <a:t>Proxy?</a:t>
            </a:r>
            <a:endParaRPr lang="ru-RU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98302" y="1547016"/>
            <a:ext cx="5029636" cy="2156647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2022" y="3965562"/>
            <a:ext cx="5944115" cy="2392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99735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97F30828-3A82-4213-ABBF-15ECD30D2B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946" y="-113776"/>
            <a:ext cx="10515600" cy="1325563"/>
          </a:xfrm>
        </p:spPr>
        <p:txBody>
          <a:bodyPr/>
          <a:lstStyle/>
          <a:p>
            <a:pPr algn="ctr"/>
            <a:r>
              <a:rPr lang="ru-RU" dirty="0" err="1" smtClean="0"/>
              <a:t>Proxy</a:t>
            </a:r>
            <a:r>
              <a:rPr lang="ru-RU" dirty="0" smtClean="0"/>
              <a:t>: </a:t>
            </a:r>
            <a:r>
              <a:rPr lang="ru-RU" dirty="0"/>
              <a:t>Схема и пример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0293" y="1489542"/>
            <a:ext cx="8931414" cy="3878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37501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Proxy: </a:t>
            </a:r>
            <a:r>
              <a:rPr lang="ru-RU" dirty="0" smtClean="0"/>
              <a:t>пример с кодом.</a:t>
            </a:r>
            <a:endParaRPr lang="ru-RU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001813" y="1913799"/>
            <a:ext cx="5068268" cy="3801201"/>
          </a:xfrm>
          <a:prstGeom prst="rect">
            <a:avLst/>
          </a:prstGeom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1976" y="1475022"/>
            <a:ext cx="3943900" cy="1362265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6224" y="3060398"/>
            <a:ext cx="6725589" cy="3286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6204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6507" y="160421"/>
            <a:ext cx="6544588" cy="6563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504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46928" y="394652"/>
            <a:ext cx="4582164" cy="704948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423" y="4936373"/>
            <a:ext cx="6026331" cy="1651661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 rotWithShape="1">
          <a:blip r:embed="rId4"/>
          <a:srcRect r="4758" b="3247"/>
          <a:stretch/>
        </p:blipFill>
        <p:spPr>
          <a:xfrm>
            <a:off x="226423" y="394652"/>
            <a:ext cx="5114920" cy="4350209"/>
          </a:xfrm>
          <a:prstGeom prst="rect">
            <a:avLst/>
          </a:prstGeom>
        </p:spPr>
      </p:pic>
      <p:pic>
        <p:nvPicPr>
          <p:cNvPr id="2" name="Рисунок 1"/>
          <p:cNvPicPr>
            <a:picLocks noChangeAspect="1"/>
          </p:cNvPicPr>
          <p:nvPr/>
        </p:nvPicPr>
        <p:blipFill rotWithShape="1">
          <a:blip r:embed="rId5"/>
          <a:srcRect b="20642"/>
          <a:stretch/>
        </p:blipFill>
        <p:spPr>
          <a:xfrm>
            <a:off x="5746928" y="1450752"/>
            <a:ext cx="5924727" cy="313446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010399" y="4585220"/>
            <a:ext cx="37698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Диаграмма последовательностей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814558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4989" y="41101"/>
            <a:ext cx="10515600" cy="1325563"/>
          </a:xfrm>
        </p:spPr>
        <p:txBody>
          <a:bodyPr/>
          <a:lstStyle/>
          <a:p>
            <a:pPr algn="ctr"/>
            <a:r>
              <a:rPr lang="ru-RU" dirty="0" smtClean="0"/>
              <a:t>Применимость 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724989" y="1115922"/>
            <a:ext cx="10515600" cy="4580415"/>
          </a:xfrm>
        </p:spPr>
        <p:txBody>
          <a:bodyPr>
            <a:normAutofit/>
          </a:bodyPr>
          <a:lstStyle/>
          <a:p>
            <a:r>
              <a:rPr lang="ru-RU" sz="2400" dirty="0"/>
              <a:t>Ленивая инициализация (виртуальный прокси</a:t>
            </a:r>
            <a:r>
              <a:rPr lang="ru-RU" sz="2400" dirty="0" smtClean="0"/>
              <a:t>).</a:t>
            </a:r>
          </a:p>
          <a:p>
            <a:pPr marL="0" indent="0">
              <a:buNone/>
            </a:pPr>
            <a:r>
              <a:rPr lang="ru-RU" sz="1900" dirty="0" smtClean="0"/>
              <a:t>Когда </a:t>
            </a:r>
            <a:r>
              <a:rPr lang="ru-RU" sz="1900" dirty="0"/>
              <a:t>у вас есть тяжёлый объект, грузящий данные из файловой системы или базы </a:t>
            </a:r>
            <a:r>
              <a:rPr lang="ru-RU" sz="1900" dirty="0" smtClean="0"/>
              <a:t>данных</a:t>
            </a:r>
            <a:endParaRPr lang="ru-RU" sz="1900" dirty="0"/>
          </a:p>
          <a:p>
            <a:r>
              <a:rPr lang="ru-RU" sz="2400" dirty="0"/>
              <a:t>Защита доступа (защищающий прокси). </a:t>
            </a:r>
            <a:endParaRPr lang="ru-RU" sz="2400" dirty="0" smtClean="0"/>
          </a:p>
          <a:p>
            <a:pPr marL="0" indent="0">
              <a:buNone/>
            </a:pPr>
            <a:r>
              <a:rPr lang="ru-RU" sz="1900" dirty="0" smtClean="0"/>
              <a:t>Когда </a:t>
            </a:r>
            <a:r>
              <a:rPr lang="ru-RU" sz="1900" dirty="0"/>
              <a:t>в программе есть разные типы пользователей, и вам хочется защищать объект от неавторизованного доступа</a:t>
            </a:r>
            <a:r>
              <a:rPr lang="ru-RU" sz="1900" dirty="0" smtClean="0"/>
              <a:t>.</a:t>
            </a:r>
          </a:p>
          <a:p>
            <a:r>
              <a:rPr lang="ru-RU" sz="2400" dirty="0"/>
              <a:t>Локальный запуск сервиса (удалённый прокси). </a:t>
            </a:r>
            <a:endParaRPr lang="ru-RU" sz="2400" dirty="0" smtClean="0"/>
          </a:p>
          <a:p>
            <a:pPr marL="0" indent="0">
              <a:buNone/>
            </a:pPr>
            <a:r>
              <a:rPr lang="ru-RU" sz="1900" dirty="0" smtClean="0"/>
              <a:t>Когда </a:t>
            </a:r>
            <a:r>
              <a:rPr lang="ru-RU" sz="1900" dirty="0"/>
              <a:t>настоящий сервисный объект находится на удалённом сервере</a:t>
            </a:r>
            <a:r>
              <a:rPr lang="ru-RU" sz="1900" dirty="0" smtClean="0"/>
              <a:t>.</a:t>
            </a:r>
          </a:p>
          <a:p>
            <a:r>
              <a:rPr lang="ru-RU" sz="2400" dirty="0" err="1"/>
              <a:t>Логирование</a:t>
            </a:r>
            <a:r>
              <a:rPr lang="ru-RU" sz="2400" dirty="0"/>
              <a:t> запросов (</a:t>
            </a:r>
            <a:r>
              <a:rPr lang="ru-RU" sz="2400" dirty="0" err="1"/>
              <a:t>логирующий</a:t>
            </a:r>
            <a:r>
              <a:rPr lang="ru-RU" sz="2400" dirty="0"/>
              <a:t> прокси). </a:t>
            </a:r>
            <a:endParaRPr lang="ru-RU" sz="2400" dirty="0" smtClean="0"/>
          </a:p>
          <a:p>
            <a:pPr marL="0" indent="0">
              <a:buNone/>
            </a:pPr>
            <a:r>
              <a:rPr lang="ru-RU" sz="1900" dirty="0" smtClean="0"/>
              <a:t>Когда </a:t>
            </a:r>
            <a:r>
              <a:rPr lang="ru-RU" sz="1900" dirty="0"/>
              <a:t>требуется хранить историю обращений к сервисному объекту</a:t>
            </a:r>
            <a:r>
              <a:rPr lang="ru-RU" sz="1900" dirty="0" smtClean="0"/>
              <a:t>.</a:t>
            </a:r>
          </a:p>
          <a:p>
            <a:r>
              <a:rPr lang="ru-RU" sz="2400" dirty="0"/>
              <a:t>Кеширование объектов («умная» ссылка). </a:t>
            </a:r>
            <a:endParaRPr lang="ru-RU" sz="2400" dirty="0" smtClean="0"/>
          </a:p>
          <a:p>
            <a:pPr marL="0" indent="0">
              <a:buNone/>
            </a:pPr>
            <a:r>
              <a:rPr lang="ru-RU" sz="1900" dirty="0" smtClean="0"/>
              <a:t>Когда </a:t>
            </a:r>
            <a:r>
              <a:rPr lang="ru-RU" sz="1900" dirty="0"/>
              <a:t>нужно кешировать результаты запросов клиентов и управлять их жизненным циклом.</a:t>
            </a:r>
            <a:endParaRPr lang="ru-RU" sz="1900" dirty="0" smtClean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408756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Преимущества и недостатки</a:t>
            </a:r>
          </a:p>
        </p:txBody>
      </p:sp>
      <p:sp>
        <p:nvSpPr>
          <p:cNvPr id="8" name="Объект 7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ru-RU" dirty="0"/>
              <a:t>Позволяет контролировать сервисный объект незаметно для клиента.</a:t>
            </a:r>
          </a:p>
          <a:p>
            <a:r>
              <a:rPr lang="ru-RU" dirty="0"/>
              <a:t> Может работать, даже если сервисный объект ещё не создан.</a:t>
            </a:r>
          </a:p>
          <a:p>
            <a:r>
              <a:rPr lang="ru-RU" dirty="0"/>
              <a:t> Может контролировать жизненный цикл служебного объекта.</a:t>
            </a:r>
          </a:p>
        </p:txBody>
      </p:sp>
      <p:sp>
        <p:nvSpPr>
          <p:cNvPr id="9" name="Объект 8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ru-RU" dirty="0"/>
              <a:t>Усложняет код программы из-за введения дополнительных классов.</a:t>
            </a:r>
          </a:p>
          <a:p>
            <a:r>
              <a:rPr lang="ru-RU" dirty="0"/>
              <a:t> Увеличивает время отклика от сервиса.</a:t>
            </a:r>
          </a:p>
        </p:txBody>
      </p:sp>
    </p:spTree>
    <p:extLst>
      <p:ext uri="{BB962C8B-B14F-4D97-AF65-F5344CB8AC3E}">
        <p14:creationId xmlns:p14="http://schemas.microsoft.com/office/powerpoint/2010/main" val="3834459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err="1"/>
              <a:t>Proxy</a:t>
            </a:r>
            <a:r>
              <a:rPr lang="ru-RU" dirty="0"/>
              <a:t> и Декоратор: в чём разница?</a:t>
            </a:r>
          </a:p>
        </p:txBody>
      </p:sp>
      <p:graphicFrame>
        <p:nvGraphicFramePr>
          <p:cNvPr id="4" name="Объект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4612285"/>
              </p:ext>
            </p:extLst>
          </p:nvPr>
        </p:nvGraphicFramePr>
        <p:xfrm>
          <a:off x="1190080" y="1802234"/>
          <a:ext cx="9811839" cy="4398120"/>
        </p:xfrm>
        <a:graphic>
          <a:graphicData uri="http://schemas.openxmlformats.org/drawingml/2006/table">
            <a:tbl>
              <a:tblPr/>
              <a:tblGrid>
                <a:gridCol w="3270613">
                  <a:extLst>
                    <a:ext uri="{9D8B030D-6E8A-4147-A177-3AD203B41FA5}">
                      <a16:colId xmlns:a16="http://schemas.microsoft.com/office/drawing/2014/main" xmlns="" val="3968655086"/>
                    </a:ext>
                  </a:extLst>
                </a:gridCol>
                <a:gridCol w="3270613">
                  <a:extLst>
                    <a:ext uri="{9D8B030D-6E8A-4147-A177-3AD203B41FA5}">
                      <a16:colId xmlns:a16="http://schemas.microsoft.com/office/drawing/2014/main" xmlns="" val="2452883308"/>
                    </a:ext>
                  </a:extLst>
                </a:gridCol>
                <a:gridCol w="3270613">
                  <a:extLst>
                    <a:ext uri="{9D8B030D-6E8A-4147-A177-3AD203B41FA5}">
                      <a16:colId xmlns:a16="http://schemas.microsoft.com/office/drawing/2014/main" xmlns="" val="778681899"/>
                    </a:ext>
                  </a:extLst>
                </a:gridCol>
              </a:tblGrid>
              <a:tr h="341281">
                <a:tc>
                  <a:txBody>
                    <a:bodyPr/>
                    <a:lstStyle/>
                    <a:p>
                      <a:r>
                        <a:rPr lang="ru-RU" sz="1700" dirty="0"/>
                        <a:t>Критерий</a:t>
                      </a:r>
                    </a:p>
                  </a:txBody>
                  <a:tcPr marL="85320" marR="85320" marT="42660" marB="426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dirty="0"/>
                        <a:t>Proxy (</a:t>
                      </a:r>
                      <a:r>
                        <a:rPr lang="ru-RU" sz="1700" dirty="0"/>
                        <a:t>Заместитель)</a:t>
                      </a:r>
                    </a:p>
                  </a:txBody>
                  <a:tcPr marL="85320" marR="85320" marT="42660" marB="426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dirty="0"/>
                        <a:t>Decorator (</a:t>
                      </a:r>
                      <a:r>
                        <a:rPr lang="ru-RU" sz="1700" dirty="0"/>
                        <a:t>Декоратор)</a:t>
                      </a:r>
                    </a:p>
                  </a:txBody>
                  <a:tcPr marL="85320" marR="85320" marT="42660" marB="426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000746796"/>
                  </a:ext>
                </a:extLst>
              </a:tr>
              <a:tr h="341281">
                <a:tc>
                  <a:txBody>
                    <a:bodyPr/>
                    <a:lstStyle/>
                    <a:p>
                      <a:r>
                        <a:rPr lang="ru-RU" sz="1700" b="1" dirty="0"/>
                        <a:t>Цель</a:t>
                      </a:r>
                      <a:endParaRPr lang="ru-RU" sz="1700" dirty="0"/>
                    </a:p>
                  </a:txBody>
                  <a:tcPr marL="85320" marR="85320" marT="42660" marB="426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700" dirty="0"/>
                        <a:t>Контролирует доступ к объекту</a:t>
                      </a:r>
                    </a:p>
                  </a:txBody>
                  <a:tcPr marL="85320" marR="85320" marT="42660" marB="426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700"/>
                        <a:t>Расширяет поведение объекта</a:t>
                      </a:r>
                    </a:p>
                  </a:txBody>
                  <a:tcPr marL="85320" marR="85320" marT="42660" marB="426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47380730"/>
                  </a:ext>
                </a:extLst>
              </a:tr>
              <a:tr h="1365126">
                <a:tc>
                  <a:txBody>
                    <a:bodyPr/>
                    <a:lstStyle/>
                    <a:p>
                      <a:r>
                        <a:rPr lang="ru-RU" sz="1700" b="1" dirty="0"/>
                        <a:t>Когда используется</a:t>
                      </a:r>
                      <a:endParaRPr lang="ru-RU" sz="1700" dirty="0"/>
                    </a:p>
                  </a:txBody>
                  <a:tcPr marL="85320" marR="85320" marT="42660" marB="426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700" dirty="0"/>
                        <a:t>Когда нужно добавить промежуточную логику — например, кэширование, контроль прав, отложенную загрузку</a:t>
                      </a:r>
                    </a:p>
                  </a:txBody>
                  <a:tcPr marL="85320" marR="85320" marT="42660" marB="426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700" dirty="0"/>
                        <a:t>Когда нужно динамически добавить функциональность без изменения исходного класса</a:t>
                      </a:r>
                    </a:p>
                  </a:txBody>
                  <a:tcPr marL="85320" marR="85320" marT="42660" marB="426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3466295094"/>
                  </a:ext>
                </a:extLst>
              </a:tr>
              <a:tr h="853203">
                <a:tc>
                  <a:txBody>
                    <a:bodyPr/>
                    <a:lstStyle/>
                    <a:p>
                      <a:r>
                        <a:rPr lang="ru-RU" sz="1700" b="1" dirty="0"/>
                        <a:t>Создание объекта</a:t>
                      </a:r>
                      <a:endParaRPr lang="ru-RU" sz="1700" dirty="0"/>
                    </a:p>
                  </a:txBody>
                  <a:tcPr marL="85320" marR="85320" marT="42660" marB="426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700"/>
                        <a:t>Может сам создавать или управлять реальным объектом</a:t>
                      </a:r>
                    </a:p>
                  </a:txBody>
                  <a:tcPr marL="85320" marR="85320" marT="42660" marB="426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700"/>
                        <a:t>Не создаёт объект — получает его «готовым» и просто оборачивает</a:t>
                      </a:r>
                    </a:p>
                  </a:txBody>
                  <a:tcPr marL="85320" marR="85320" marT="42660" marB="426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4218447202"/>
                  </a:ext>
                </a:extLst>
              </a:tr>
              <a:tr h="853203">
                <a:tc>
                  <a:txBody>
                    <a:bodyPr/>
                    <a:lstStyle/>
                    <a:p>
                      <a:r>
                        <a:rPr lang="ru-RU" sz="1700" b="1" dirty="0"/>
                        <a:t>Прозрачность для клиента</a:t>
                      </a:r>
                      <a:endParaRPr lang="ru-RU" sz="1700" dirty="0"/>
                    </a:p>
                  </a:txBody>
                  <a:tcPr marL="85320" marR="85320" marT="42660" marB="426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700"/>
                        <a:t>Клиент обычно не знает, что работает с прокси</a:t>
                      </a:r>
                    </a:p>
                  </a:txBody>
                  <a:tcPr marL="85320" marR="85320" marT="42660" marB="426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700"/>
                        <a:t>Клиент знает, что объект «обёрнут» в дополнительные возможности</a:t>
                      </a:r>
                    </a:p>
                  </a:txBody>
                  <a:tcPr marL="85320" marR="85320" marT="42660" marB="426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3739247424"/>
                  </a:ext>
                </a:extLst>
              </a:tr>
              <a:tr h="597242">
                <a:tc>
                  <a:txBody>
                    <a:bodyPr/>
                    <a:lstStyle/>
                    <a:p>
                      <a:r>
                        <a:rPr lang="ru-RU" sz="1700" b="1" dirty="0"/>
                        <a:t>Типичные примеры</a:t>
                      </a:r>
                      <a:endParaRPr lang="ru-RU" sz="1700" dirty="0"/>
                    </a:p>
                  </a:txBody>
                  <a:tcPr marL="85320" marR="85320" marT="42660" marB="426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700"/>
                        <a:t>Кэш, защита, ленивая загрузка, сетевые запросы</a:t>
                      </a:r>
                    </a:p>
                  </a:txBody>
                  <a:tcPr marL="85320" marR="85320" marT="42660" marB="426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700" dirty="0"/>
                        <a:t>Добавление логов, визуальных эффектов, поведения GUI</a:t>
                      </a:r>
                    </a:p>
                  </a:txBody>
                  <a:tcPr marL="85320" marR="85320" marT="42660" marB="426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25909860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811753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119D598A-E434-4A9E-8439-CBC5D3683D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1349" y="-123523"/>
            <a:ext cx="10515600" cy="1325563"/>
          </a:xfrm>
        </p:spPr>
        <p:txBody>
          <a:bodyPr/>
          <a:lstStyle/>
          <a:p>
            <a:pPr algn="ctr"/>
            <a:r>
              <a:rPr lang="ru-RU" dirty="0"/>
              <a:t>Паттерн </a:t>
            </a:r>
            <a:r>
              <a:rPr lang="en-US" dirty="0"/>
              <a:t>Bridge — </a:t>
            </a:r>
            <a:r>
              <a:rPr lang="ru-RU" dirty="0" smtClean="0"/>
              <a:t>проблема и решение</a:t>
            </a:r>
            <a:endParaRPr lang="ru-RU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37252" y="2668813"/>
            <a:ext cx="4679085" cy="1600339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9149" y="2007737"/>
            <a:ext cx="4884843" cy="3071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12940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Bridge: </a:t>
            </a:r>
            <a:r>
              <a:rPr lang="ru-RU" dirty="0" smtClean="0"/>
              <a:t>схема и пример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ru-RU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4961" y="1825625"/>
            <a:ext cx="4823878" cy="2316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80119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49275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smtClean="0"/>
              <a:t>Bridge: </a:t>
            </a:r>
            <a:r>
              <a:rPr lang="ru-RU" dirty="0" smtClean="0"/>
              <a:t>пример с кодом</a:t>
            </a:r>
            <a:endParaRPr lang="ru-RU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676" y="914400"/>
            <a:ext cx="4648627" cy="2015584"/>
          </a:xfrm>
          <a:prstGeom prst="rect">
            <a:avLst/>
          </a:prstGeom>
        </p:spPr>
      </p:pic>
      <p:pic>
        <p:nvPicPr>
          <p:cNvPr id="7" name="Объект 6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661660" y="914400"/>
            <a:ext cx="5508211" cy="4351338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983324"/>
            <a:ext cx="3638764" cy="3262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26885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961" y="323079"/>
            <a:ext cx="5738357" cy="4854361"/>
          </a:xfrm>
          <a:prstGeom prst="rect">
            <a:avLst/>
          </a:prstGeom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3899" y="323079"/>
            <a:ext cx="5090601" cy="5060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07530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576" y="259626"/>
            <a:ext cx="9076207" cy="3551228"/>
          </a:xfrm>
          <a:prstGeom prst="rect">
            <a:avLst/>
          </a:prstGeom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3330" y="2640176"/>
            <a:ext cx="5761219" cy="3558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22433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Применимость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731135"/>
          </a:xfrm>
        </p:spPr>
        <p:txBody>
          <a:bodyPr>
            <a:normAutofit/>
          </a:bodyPr>
          <a:lstStyle/>
          <a:p>
            <a:r>
              <a:rPr lang="ru-RU" sz="2400" dirty="0"/>
              <a:t>Когда вы хотите избежать постоянной привязки абстракции и реализации.</a:t>
            </a:r>
          </a:p>
          <a:p>
            <a:r>
              <a:rPr lang="ru-RU" sz="2400" dirty="0"/>
              <a:t>Когда и абстракции, и реализации должны расширяться через наследование.</a:t>
            </a:r>
          </a:p>
          <a:p>
            <a:r>
              <a:rPr lang="ru-RU" sz="2400" dirty="0"/>
              <a:t>Когда изменения в реализации не должны отражаться на клиентах.</a:t>
            </a:r>
          </a:p>
          <a:p>
            <a:r>
              <a:rPr lang="ru-RU" sz="2400" dirty="0"/>
              <a:t>Когда вы хотите скрыть от клиента детали реализации.</a:t>
            </a:r>
          </a:p>
          <a:p>
            <a:r>
              <a:rPr lang="ru-RU" sz="2400" dirty="0"/>
              <a:t>Когда у вас есть множество классов, ведущих к раздуванию иерархии.</a:t>
            </a:r>
          </a:p>
        </p:txBody>
      </p:sp>
    </p:spTree>
    <p:extLst>
      <p:ext uri="{BB962C8B-B14F-4D97-AF65-F5344CB8AC3E}">
        <p14:creationId xmlns:p14="http://schemas.microsoft.com/office/powerpoint/2010/main" val="13367924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/>
              <a:t>Преимущества и недостатки</a:t>
            </a:r>
            <a:endParaRPr lang="ru-RU" dirty="0"/>
          </a:p>
        </p:txBody>
      </p:sp>
      <p:sp>
        <p:nvSpPr>
          <p:cNvPr id="4" name="Объект 3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ru-RU" sz="2400" dirty="0"/>
              <a:t>Позволяет строить </a:t>
            </a:r>
            <a:r>
              <a:rPr lang="ru-RU" sz="2400" dirty="0" err="1"/>
              <a:t>платформо</a:t>
            </a:r>
            <a:r>
              <a:rPr lang="ru-RU" sz="2400" dirty="0"/>
              <a:t>-независимые программы.</a:t>
            </a:r>
          </a:p>
          <a:p>
            <a:r>
              <a:rPr lang="ru-RU" sz="2400" dirty="0"/>
              <a:t> Скрывает лишние или опасные детали реализации от клиентского кода.</a:t>
            </a:r>
          </a:p>
          <a:p>
            <a:r>
              <a:rPr lang="ru-RU" sz="2400" dirty="0"/>
              <a:t> Реализует принцип открытости/закрытости.</a:t>
            </a:r>
          </a:p>
        </p:txBody>
      </p:sp>
      <p:sp>
        <p:nvSpPr>
          <p:cNvPr id="5" name="Объект 4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ru-RU" sz="2400" dirty="0"/>
              <a:t>Усложняет код программы из-за введения дополнительных классов.</a:t>
            </a:r>
          </a:p>
        </p:txBody>
      </p:sp>
    </p:spTree>
    <p:extLst>
      <p:ext uri="{BB962C8B-B14F-4D97-AF65-F5344CB8AC3E}">
        <p14:creationId xmlns:p14="http://schemas.microsoft.com/office/powerpoint/2010/main" val="15440966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37732DD9-BB30-40EB-BC82-BFA47ADD49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6667" y="-237333"/>
            <a:ext cx="10515600" cy="1325563"/>
          </a:xfrm>
        </p:spPr>
        <p:txBody>
          <a:bodyPr/>
          <a:lstStyle/>
          <a:p>
            <a:pPr algn="ctr"/>
            <a:r>
              <a:rPr lang="ru-RU" dirty="0"/>
              <a:t>Сравнение </a:t>
            </a:r>
            <a:r>
              <a:rPr lang="en-US" dirty="0"/>
              <a:t>Proxy </a:t>
            </a:r>
            <a:r>
              <a:rPr lang="ru-RU" dirty="0"/>
              <a:t>и </a:t>
            </a:r>
            <a:r>
              <a:rPr lang="en-US" dirty="0"/>
              <a:t>Bridge</a:t>
            </a:r>
            <a:endParaRPr lang="ru-RU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423841" y="4326633"/>
            <a:ext cx="3584186" cy="147732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Proxy</a:t>
            </a:r>
            <a:r>
              <a:rPr lang="ru-RU" dirty="0" smtClean="0"/>
              <a:t> пример: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 smtClean="0"/>
              <a:t>Ленивая загрузка изображений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 smtClean="0"/>
              <a:t>Защита доступа к объекту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 smtClean="0"/>
              <a:t>Кэширование результатов</a:t>
            </a:r>
          </a:p>
          <a:p>
            <a:endParaRPr lang="ru-RU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4008027" y="4326633"/>
            <a:ext cx="3253833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Bridge </a:t>
            </a:r>
            <a:r>
              <a:rPr lang="ru-RU" dirty="0" smtClean="0"/>
              <a:t>пример: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 smtClean="0"/>
              <a:t>Пульты </a:t>
            </a:r>
            <a:r>
              <a:rPr lang="ru-RU" dirty="0" smtClean="0"/>
              <a:t>+ устройства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GUI +</a:t>
            </a:r>
            <a:r>
              <a:rPr lang="ru-RU" dirty="0" smtClean="0"/>
              <a:t> платформы</a:t>
            </a:r>
            <a:endParaRPr lang="ru-RU" dirty="0"/>
          </a:p>
        </p:txBody>
      </p:sp>
      <p:sp>
        <p:nvSpPr>
          <p:cNvPr id="9" name="Прямоугольник 8"/>
          <p:cNvSpPr/>
          <p:nvPr/>
        </p:nvSpPr>
        <p:spPr>
          <a:xfrm>
            <a:off x="7680960" y="4188133"/>
            <a:ext cx="402336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smtClean="0"/>
              <a:t>Ключевое отличие:</a:t>
            </a:r>
          </a:p>
          <a:p>
            <a:r>
              <a:rPr lang="en-US" dirty="0" smtClean="0"/>
              <a:t>Proxy</a:t>
            </a:r>
            <a:r>
              <a:rPr lang="ru-RU" dirty="0" smtClean="0"/>
              <a:t>: работает с одним объектом через тот же интерфейс</a:t>
            </a:r>
          </a:p>
          <a:p>
            <a:r>
              <a:rPr lang="en-US" dirty="0" smtClean="0"/>
              <a:t>Bridge</a:t>
            </a:r>
            <a:r>
              <a:rPr lang="ru-RU" dirty="0" smtClean="0"/>
              <a:t>: соединяет две разные иерархии классов</a:t>
            </a:r>
            <a:endParaRPr lang="ru-RU" dirty="0"/>
          </a:p>
        </p:txBody>
      </p:sp>
      <p:graphicFrame>
        <p:nvGraphicFramePr>
          <p:cNvPr id="7" name="Таблица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620166"/>
              </p:ext>
            </p:extLst>
          </p:nvPr>
        </p:nvGraphicFramePr>
        <p:xfrm>
          <a:off x="423841" y="979974"/>
          <a:ext cx="11280480" cy="2392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8159">
                  <a:extLst>
                    <a:ext uri="{9D8B030D-6E8A-4147-A177-3AD203B41FA5}">
                      <a16:colId xmlns:a16="http://schemas.microsoft.com/office/drawing/2014/main" xmlns="" val="2873853598"/>
                    </a:ext>
                  </a:extLst>
                </a:gridCol>
                <a:gridCol w="4622800">
                  <a:extLst>
                    <a:ext uri="{9D8B030D-6E8A-4147-A177-3AD203B41FA5}">
                      <a16:colId xmlns:a16="http://schemas.microsoft.com/office/drawing/2014/main" xmlns="" val="1974546654"/>
                    </a:ext>
                  </a:extLst>
                </a:gridCol>
                <a:gridCol w="5049521">
                  <a:extLst>
                    <a:ext uri="{9D8B030D-6E8A-4147-A177-3AD203B41FA5}">
                      <a16:colId xmlns:a16="http://schemas.microsoft.com/office/drawing/2014/main" xmlns="" val="247288266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Критерий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Proxy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Bridge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9603895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Цель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Контроль доступа к объекту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Разделение абстракции и реализации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355453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Структура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Прокси и реальный объект реализуют один интерфейс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Две разные иерархии классов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8372878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Отношения 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«оборачивает» один конкретный объект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«связывает» абстракцию</a:t>
                      </a:r>
                      <a:r>
                        <a:rPr lang="ru-RU" baseline="0" dirty="0" smtClean="0"/>
                        <a:t> с реализацией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8483656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Принцип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Заместительство, обёртка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Композиция </a:t>
                      </a:r>
                      <a:r>
                        <a:rPr lang="en-US" dirty="0" smtClean="0"/>
                        <a:t>&gt;</a:t>
                      </a:r>
                      <a:r>
                        <a:rPr lang="ru-RU" baseline="0" dirty="0" smtClean="0"/>
                        <a:t> наследование, разделение ответственности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6226416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401823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67D4EBF3-E748-4A02-895D-A3A413CFC4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24784"/>
            <a:ext cx="10515600" cy="1325563"/>
          </a:xfrm>
        </p:spPr>
        <p:txBody>
          <a:bodyPr/>
          <a:lstStyle/>
          <a:p>
            <a:pPr algn="ctr"/>
            <a:r>
              <a:rPr lang="ru-RU" dirty="0"/>
              <a:t>Итоги и Выводы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9B63D435-7BB4-4D1C-A2CF-6F7C80742F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65966"/>
            <a:ext cx="10515600" cy="4351338"/>
          </a:xfrm>
        </p:spPr>
        <p:txBody>
          <a:bodyPr/>
          <a:lstStyle/>
          <a:p>
            <a:r>
              <a:rPr lang="ru-RU" dirty="0" err="1"/>
              <a:t>Proxy</a:t>
            </a:r>
            <a:r>
              <a:rPr lang="ru-RU" dirty="0"/>
              <a:t> — это паттерн-«обертка» для управления доступом к объекту. </a:t>
            </a:r>
          </a:p>
          <a:p>
            <a:r>
              <a:rPr lang="ru-RU" dirty="0" err="1"/>
              <a:t>Bridge</a:t>
            </a:r>
            <a:r>
              <a:rPr lang="ru-RU" dirty="0"/>
              <a:t> — это паттерн-«архитектор», который борется с разрастанием классов через разделение на абстракцию и реализацию. </a:t>
            </a:r>
          </a:p>
          <a:p>
            <a:r>
              <a:rPr lang="ru-RU" dirty="0"/>
              <a:t>Оба паттерна используют композицию, но для разных целей. </a:t>
            </a:r>
          </a:p>
          <a:p>
            <a:r>
              <a:rPr lang="ru-RU" dirty="0"/>
              <a:t>Их знание помогает писать гибкий, масштабируемый и чистый код на </a:t>
            </a:r>
            <a:r>
              <a:rPr lang="ru-RU" dirty="0" err="1"/>
              <a:t>Java</a:t>
            </a:r>
            <a:r>
              <a:rPr lang="ru-RU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3817810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62AD3F13-C948-4CEA-98EA-25AC981D68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Спасибо за внимание!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AAEDAD8C-93F2-41DF-AE7F-7F141C7A02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755084"/>
          </a:xfrm>
        </p:spPr>
        <p:txBody>
          <a:bodyPr>
            <a:normAutofit fontScale="92500" lnSpcReduction="20000"/>
          </a:bodyPr>
          <a:lstStyle/>
          <a:p>
            <a:r>
              <a:rPr lang="ru-RU" sz="3600" dirty="0"/>
              <a:t>Книга </a:t>
            </a:r>
            <a:r>
              <a:rPr lang="en-US" sz="3600" dirty="0"/>
              <a:t>Design Patterns: Elements of Reusable Object-Oriented Software</a:t>
            </a:r>
            <a:r>
              <a:rPr lang="ru-RU" sz="3600" dirty="0"/>
              <a:t> - </a:t>
            </a:r>
            <a:r>
              <a:rPr lang="en-US" sz="3600" dirty="0"/>
              <a:t>Erich Gamma, Richard Helm, Ralph Johnson, John </a:t>
            </a:r>
            <a:r>
              <a:rPr lang="en-US" sz="3600" dirty="0" err="1"/>
              <a:t>Vlissides</a:t>
            </a:r>
            <a:endParaRPr lang="ru-RU" sz="3600" dirty="0"/>
          </a:p>
          <a:p>
            <a:r>
              <a:rPr lang="ru-RU" sz="3600" dirty="0"/>
              <a:t>Онлайн-ресурс </a:t>
            </a:r>
            <a:r>
              <a:rPr lang="en-US" sz="3600" dirty="0">
                <a:hlinkClick r:id="rId2"/>
              </a:rPr>
              <a:t>https://refactoring.guru/ru/design-patterns</a:t>
            </a:r>
            <a:endParaRPr lang="ru-RU" sz="3600" dirty="0"/>
          </a:p>
          <a:p>
            <a:r>
              <a:rPr lang="ru-RU" sz="3600" dirty="0"/>
              <a:t>Онлайн-ресурс </a:t>
            </a:r>
            <a:r>
              <a:rPr lang="en-US" sz="3600" dirty="0">
                <a:hlinkClick r:id="rId3"/>
              </a:rPr>
              <a:t>https://java-design-patterns.com/</a:t>
            </a:r>
            <a:endParaRPr lang="ru-RU" sz="3600" dirty="0"/>
          </a:p>
          <a:p>
            <a:endParaRPr lang="ru-RU" sz="3600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90582" y="4362994"/>
            <a:ext cx="3738033" cy="2160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5586783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527</TotalTime>
  <Words>663</Words>
  <Application>Microsoft Office PowerPoint</Application>
  <PresentationFormat>Широкоэкранный</PresentationFormat>
  <Paragraphs>109</Paragraphs>
  <Slides>22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22</vt:i4>
      </vt:variant>
    </vt:vector>
  </HeadingPairs>
  <TitlesOfParts>
    <vt:vector size="26" baseType="lpstr">
      <vt:lpstr>Arial</vt:lpstr>
      <vt:lpstr>Calibri</vt:lpstr>
      <vt:lpstr>Calibri Light</vt:lpstr>
      <vt:lpstr>Тема Office</vt:lpstr>
      <vt:lpstr>Java. Прокси и мост</vt:lpstr>
      <vt:lpstr>Краткий обзор того, о чем будем говорить</vt:lpstr>
      <vt:lpstr>Введение: Что такое паттерны?</vt:lpstr>
      <vt:lpstr>Паттерн Proxy (Заместитель)</vt:lpstr>
      <vt:lpstr>Зачем нужен Proxy?</vt:lpstr>
      <vt:lpstr>Proxy: Схема и пример</vt:lpstr>
      <vt:lpstr>Proxy: пример с кодом.</vt:lpstr>
      <vt:lpstr>Презентация PowerPoint</vt:lpstr>
      <vt:lpstr>Презентация PowerPoint</vt:lpstr>
      <vt:lpstr>Применимость </vt:lpstr>
      <vt:lpstr>Преимущества и недостатки</vt:lpstr>
      <vt:lpstr>Proxy и Декоратор: в чём разница?</vt:lpstr>
      <vt:lpstr>Паттерн Bridge — проблема и решение</vt:lpstr>
      <vt:lpstr>Bridge: схема и пример</vt:lpstr>
      <vt:lpstr>Bridge: пример с кодом</vt:lpstr>
      <vt:lpstr>Презентация PowerPoint</vt:lpstr>
      <vt:lpstr>Презентация PowerPoint</vt:lpstr>
      <vt:lpstr>Применимость</vt:lpstr>
      <vt:lpstr>Преимущества и недостатки</vt:lpstr>
      <vt:lpstr>Сравнение Proxy и Bridge</vt:lpstr>
      <vt:lpstr>Итоги и Выводы</vt:lpstr>
      <vt:lpstr>Спасибо за внимание!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Java. Прокси и мост</dc:title>
  <dc:creator>Ятманова Анна Вячеславовна</dc:creator>
  <cp:lastModifiedBy>Учетная запись Майкрософт</cp:lastModifiedBy>
  <cp:revision>52</cp:revision>
  <dcterms:created xsi:type="dcterms:W3CDTF">2025-09-11T09:00:10Z</dcterms:created>
  <dcterms:modified xsi:type="dcterms:W3CDTF">2025-11-22T02:57:49Z</dcterms:modified>
</cp:coreProperties>
</file>